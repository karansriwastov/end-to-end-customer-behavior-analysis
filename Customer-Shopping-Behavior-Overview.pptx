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ricolage Grotesque Bold"/>
      <p:regular r:id="rId201314"/>
    </p:embeddedFont>
    <p:embeddedFont>
      <p:font typeface="Bricolage Grotesque"/>
      <p:regular r:id="rId201315"/>
    </p:embeddedFont>
    <p:embeddedFont>
      <p:font typeface="Bricolage Grotesque SemiBold"/>
      <p:regular r:id="rId201316"/>
    </p:embeddedFont>
    <p:embeddedFont>
      <p:font typeface="Inter SemiBold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  <p:embeddedFont>
      <p:font typeface="Inter Black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Customer Shopping Behavior — Overview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3,900 purchases to uncover spending patterns, segments, preferences, and subscription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83614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Dataset Snapshot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710259"/>
            <a:ext cx="1972915" cy="2311499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905621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609578"/>
            <a:ext cx="15822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rows ·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823397" y="2710259"/>
            <a:ext cx="1972915" cy="2311499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8754" y="2905621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018754" y="3314303"/>
            <a:ext cx="158220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purchase details, behavior, shipping, discounts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85320" y="2710259"/>
            <a:ext cx="1972915" cy="2311499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80677" y="2905621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180677" y="3314303"/>
            <a:ext cx="15822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73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Prep &amp; Feature Engineering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5008"/>
            <a:ext cx="5243481" cy="2971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1409005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293089" y="1655961"/>
            <a:ext cx="524348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6" name="Text 3"/>
          <p:cNvSpPr/>
          <p:nvPr/>
        </p:nvSpPr>
        <p:spPr>
          <a:xfrm>
            <a:off x="6293089" y="1772245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Cleaning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93089" y="2146399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with pandas; checked structure and summary stats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93089" y="2622252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93089" y="2853630"/>
            <a:ext cx="524348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0" name="Text 7"/>
          <p:cNvSpPr/>
          <p:nvPr/>
        </p:nvSpPr>
        <p:spPr>
          <a:xfrm>
            <a:off x="6293089" y="298549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Imputation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93089" y="3359646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Review Rating by category median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93089" y="3835499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93089" y="4051201"/>
            <a:ext cx="524348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4" name="Text 11"/>
          <p:cNvSpPr/>
          <p:nvPr/>
        </p:nvSpPr>
        <p:spPr>
          <a:xfrm>
            <a:off x="6293089" y="4198739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93089" y="4572893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age_group and purchase_frequency_days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93089" y="5048746"/>
            <a:ext cx="31302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93089" y="5248870"/>
            <a:ext cx="524348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8" name="Text 15"/>
          <p:cNvSpPr/>
          <p:nvPr/>
        </p:nvSpPr>
        <p:spPr>
          <a:xfrm>
            <a:off x="6293089" y="5411986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Standardize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93089" y="5786140"/>
            <a:ext cx="52434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Renamed columns to snake_case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714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Database &amp; SQL Analysis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25030"/>
            <a:ext cx="6925990" cy="392479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0084" y="1443633"/>
            <a:ext cx="406092" cy="4061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90084" y="2024162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Revenue by Gender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7990084" y="2417465"/>
            <a:ext cx="354648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Male: 157,890 · Female: 75,191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0084" y="2938165"/>
            <a:ext cx="406092" cy="4061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90084" y="3518694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High-Spending Discount Users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7990084" y="3911997"/>
            <a:ext cx="354648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rows: users who used discounts but spent above average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0084" y="4674295"/>
            <a:ext cx="406092" cy="4061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90084" y="5254823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Top Rated Items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7990084" y="5648127"/>
            <a:ext cx="354648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Gloves, Sandals, Boots, Hat, Skirt (avg ratings ~3.78–3.86)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Product &amp; Discount Insights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15766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Discount-dependent products identified — review policy to protect margins.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1058" y="3290292"/>
            <a:ext cx="2632604" cy="820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78922" y="3363317"/>
            <a:ext cx="11687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331188" y="3680023"/>
            <a:ext cx="24123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Top 5 Discounted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331188" y="3882529"/>
            <a:ext cx="24123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 · Sneakers · Coat · Sweater · Pants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866" y="3290292"/>
            <a:ext cx="2632704" cy="820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61730" y="3363317"/>
            <a:ext cx="11687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9013996" y="3680023"/>
            <a:ext cx="24124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Action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9013996" y="3882529"/>
            <a:ext cx="24124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promotions vs. margin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40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Customer Segments &amp; Loyalty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719" y="1645940"/>
            <a:ext cx="5124322" cy="4386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0824" y="2837441"/>
            <a:ext cx="1976161" cy="494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Loyal3,116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54011" y="2688127"/>
            <a:ext cx="1721456" cy="494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Returning701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3802067" y="4743386"/>
            <a:ext cx="1493099" cy="494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New83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018163" y="1584226"/>
            <a:ext cx="3518308" cy="1388963"/>
          </a:xfrm>
          <a:prstGeom prst="roundRect">
            <a:avLst>
              <a:gd name="adj" fmla="val 5448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04590" y="1770658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Subscribers vs Non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204590" y="2223790"/>
            <a:ext cx="314545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Subscribers: 1,053 — Avg spend $59.49 — Revenue 62,645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18163" y="3144838"/>
            <a:ext cx="3518308" cy="1388963"/>
          </a:xfrm>
          <a:prstGeom prst="roundRect">
            <a:avLst>
              <a:gd name="adj" fmla="val 5448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04590" y="3331270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Non-Subscribers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204590" y="3784402"/>
            <a:ext cx="314545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2,847 — Avg spend $59.87 — Revenue 170,436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18163" y="4705449"/>
            <a:ext cx="3518308" cy="1388963"/>
          </a:xfrm>
          <a:prstGeom prst="roundRect">
            <a:avLst>
              <a:gd name="adj" fmla="val 5448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4590" y="4891881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Repeat Buyers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204590" y="5345013"/>
            <a:ext cx="314545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buyers (&gt;5): more likely non-subscribers (2,518 No vs 958 Yes)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18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Sales &amp; Revenue Highlights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58628"/>
            <a:ext cx="3504219" cy="301486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2871391"/>
            <a:ext cx="733307" cy="9165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02743" y="2871391"/>
            <a:ext cx="236392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Revenue by Age Group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602743" y="3650952"/>
            <a:ext cx="236392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 62,143 · Middle-aged 59,197 · Adult 55,978 · Senior 55,763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903" y="2871391"/>
            <a:ext cx="733307" cy="9165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72445" y="2871391"/>
            <a:ext cx="23640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Shipping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172445" y="3355677"/>
            <a:ext cx="23640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purchase: Standard $58.46 · Express $60.48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563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Dashboard &amp; Recommendations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70373"/>
            <a:ext cx="6941071" cy="37355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61907" y="1306612"/>
            <a:ext cx="3574564" cy="843161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12914" y="1457623"/>
            <a:ext cx="327254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12914" y="1794371"/>
            <a:ext cx="327254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961907" y="2260501"/>
            <a:ext cx="3574564" cy="843161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12914" y="2411512"/>
            <a:ext cx="327254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Loyalty Programs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12914" y="2748260"/>
            <a:ext cx="327254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increase loyalty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61907" y="3214390"/>
            <a:ext cx="3574564" cy="843161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12914" y="3365401"/>
            <a:ext cx="327254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Review Discounts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12914" y="3702149"/>
            <a:ext cx="327254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discount strategy to protect margins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61907" y="4168279"/>
            <a:ext cx="3574564" cy="843161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2914" y="4319290"/>
            <a:ext cx="327254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12914" y="4656038"/>
            <a:ext cx="327254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top-rated &amp; best-selling items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61907" y="5122168"/>
            <a:ext cx="3574564" cy="1047552"/>
          </a:xfrm>
          <a:prstGeom prst="roundRect">
            <a:avLst>
              <a:gd name="adj" fmla="val 5802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12914" y="5273179"/>
            <a:ext cx="327254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12914" y="5609927"/>
            <a:ext cx="327254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and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2026-09-02T18:29:05Z</dcterms:created>
  <dcterms:modified xsi:type="dcterms:W3CDTF">2026-09-02T18:29:05Z</dcterms:modified>
</cp:coreProperties>
</file>